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69" r:id="rId6"/>
    <p:sldId id="260" r:id="rId7"/>
    <p:sldId id="274" r:id="rId8"/>
    <p:sldId id="273" r:id="rId9"/>
    <p:sldId id="261" r:id="rId10"/>
    <p:sldId id="259" r:id="rId11"/>
    <p:sldId id="267" r:id="rId12"/>
    <p:sldId id="264" r:id="rId13"/>
    <p:sldId id="262" r:id="rId14"/>
    <p:sldId id="263" r:id="rId15"/>
    <p:sldId id="268" r:id="rId16"/>
    <p:sldId id="271" r:id="rId1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AA"/>
    <a:srgbClr val="1A1A1A"/>
    <a:srgbClr val="A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9BFF1-37DD-40FB-92D1-01B6E5B77429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1337F-2C09-490C-AE46-627EC5CCA28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8906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1337F-2C09-490C-AE46-627EC5CCA281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7598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831C-594D-ED48-6C92-56DF5579A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8EF2-AD0B-3480-3346-4E73F54C3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6035-E2F1-1643-F77F-1CF69340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78FCF-FAA5-A2B5-F6C7-3D3811D8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5A129-CE09-A42E-78C9-6E78C86A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2430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15EA-BEF0-5955-9F1C-B7D5CE3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90458-ABF8-69A0-11F2-32EF8D6A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03C68-59FC-05CB-59AB-BB08421B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595C2-23D5-52C2-8539-CFEEF7A0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4D3FA-30F8-4EA7-8DA1-42CCD700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368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4DB1-9B84-5547-F779-8EC0A85C3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51AEB-80CE-E626-F0DE-40743B07F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7E46F-98D5-B5AF-EF71-8EFBFC44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BBD1C-02C2-946D-154D-F60636F5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67CB-5399-6ABC-D200-203620EE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0016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6E40-FBC8-4F7F-15AC-9D558D20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2833-57B3-A516-19EA-FB5E9B833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C8D8-E09E-47A7-1B61-7B8BEE317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81515-4A8A-211F-531C-82430004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34BC-AF1F-9E07-D991-0B1ED1DD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AE5DC-025B-E7E2-5AA1-980E63AB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668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7339-0C8D-FD3F-3E9D-D043CA6A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BD55-D841-C23C-C879-8B725FAE8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E6126-02EB-F31E-B539-CAB820D4F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393DA-98F5-6FCD-76AD-57683DC0B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5F141-47E5-D9CC-B6EA-97971D755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F02A7-6CBF-BF74-3A79-C838B335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3599B-1FD1-CD9E-648E-F7234137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057CB-E0C4-9A33-0D93-2680CAA3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9594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F914-9642-8D67-62E6-8531FB97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B5C08-3746-C526-0A18-40392D55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8A358-D2C1-3114-F9E8-97B4BCEF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AEE92-0434-7E71-37C9-B6B703CF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1976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BEE3B-2421-6754-F49D-B32337F4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037AA-0724-3DA2-7E2F-7B9557EA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7192-F929-1084-2E5F-95F74B80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0701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57B-5619-50E6-1603-73FD0147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13EC-FB29-725E-5CAF-E071FE306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739A7-27DB-D830-E824-5619D0F35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95126-AEA0-756C-E147-F6529D1C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86A95-EBA8-6ECC-81F9-8D0C94BE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8F075-873C-7E9D-1FEE-E8CE2020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308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6240-4B96-0766-6441-DAA80C23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B7EF38-AB9C-5D76-C757-C15FBE5EE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A5F54-6967-C9CF-3B2E-B070C36BB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DA34B-C08E-DE7E-4E16-F2F8D5DE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FA618-DC61-5999-A865-FD80E565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C46C-56AF-886A-B308-5797FD2D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96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C90A-C746-C57B-BC7A-D7653CC9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CA41A-3753-22A0-A2B4-78F67CD4E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1F51A-6F96-870B-963E-5CBA8BE2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B08ED-43B3-1F6E-356C-35EF23D4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BC4C1-7208-A11F-5372-B05555F0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9750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569AE-30E0-1967-971C-9C2E5763E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AD1B8-A1CB-25C0-4899-F17FEDE3D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D70FF-4B29-05D3-F6E2-6CCB0D3D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A52B9-38C1-4D0A-9B76-BDA9CC0E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CFB8B-CF6B-6DA7-8F27-90150CAF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8395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F73D3-D280-FCE2-C81D-69A7D45C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91165-9A51-CD4B-BFF3-F0B9C540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4C24D-FD64-78F7-81A0-8EF2528DA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AF8CA-4581-4E4B-A10D-99EDE9428ED8}" type="datetimeFigureOut">
              <a:rPr lang="hr-HR" smtClean="0"/>
              <a:t>21.3.2026.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68AA-9517-482E-0A6C-065771290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9495A-C549-C9B3-9EB6-42198B637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E31C0-A58B-494C-B59B-48788756085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801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microsoft.com/office/2007/relationships/hdphoto" Target="../media/hdphoto2.wdp"/><Relationship Id="rId10" Type="http://schemas.openxmlformats.org/officeDocument/2006/relationships/image" Target="../media/image13.sv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microsoft.com/office/2007/relationships/hdphoto" Target="../media/hdphoto4.wdp"/><Relationship Id="rId5" Type="http://schemas.microsoft.com/office/2007/relationships/hdphoto" Target="../media/hdphoto7.wdp"/><Relationship Id="rId10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4.wdp"/><Relationship Id="rId7" Type="http://schemas.microsoft.com/office/2007/relationships/hdphoto" Target="../media/hdphoto9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25.png"/><Relationship Id="rId4" Type="http://schemas.microsoft.com/office/2007/relationships/hdphoto" Target="../media/hdphoto10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5EAD-27D6-43A9-192B-52DBCDB10E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AIBG X - </a:t>
            </a:r>
            <a:r>
              <a:rPr lang="hr-HR" dirty="0" err="1"/>
              <a:t>Topic</a:t>
            </a:r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27640-95F3-0316-5943-C3077FEB19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C1AA9-B682-12FD-6B2E-4F9A6518F6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2B98C-C8C6-7FB6-7EF7-8CD221E80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647" y="2330063"/>
            <a:ext cx="4668478" cy="109893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E1E95C2-D0EC-7A8F-179D-2ED08E79B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729073"/>
            <a:ext cx="3465870" cy="5200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2461C6-4554-0C5E-F186-95A83A4EEC54}"/>
              </a:ext>
            </a:extLst>
          </p:cNvPr>
          <p:cNvSpPr txBox="1"/>
          <p:nvPr/>
        </p:nvSpPr>
        <p:spPr>
          <a:xfrm>
            <a:off x="5350598" y="3714538"/>
            <a:ext cx="6208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200" dirty="0" err="1">
                <a:solidFill>
                  <a:schemeClr val="bg1"/>
                </a:solidFill>
                <a:latin typeface="Consolas" panose="020B0609020204030204" pitchFamily="49" charset="0"/>
              </a:rPr>
              <a:t>Topic</a:t>
            </a:r>
            <a:r>
              <a:rPr lang="hr-HR" sz="3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3200" dirty="0" err="1">
                <a:solidFill>
                  <a:schemeClr val="bg1"/>
                </a:solidFill>
                <a:latin typeface="Consolas" panose="020B0609020204030204" pitchFamily="49" charset="0"/>
              </a:rPr>
              <a:t>presentation</a:t>
            </a:r>
            <a:endParaRPr lang="hr-HR" sz="3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1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7AB2-568D-ED78-CA0D-7314E8E9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Inspiracija</a:t>
            </a:r>
          </a:p>
        </p:txBody>
      </p:sp>
      <p:pic>
        <p:nvPicPr>
          <p:cNvPr id="1028" name="Picture 4" descr="Starcraft Ii GIFs - Find &amp; Share on GIPHY">
            <a:extLst>
              <a:ext uri="{FF2B5EF4-FFF2-40B4-BE49-F238E27FC236}">
                <a16:creationId xmlns:a16="http://schemas.microsoft.com/office/drawing/2014/main" id="{18560E62-A6B3-BB6A-7365-645A65A68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26" y="597616"/>
            <a:ext cx="6091084" cy="342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d Meier's Civilization V: The Complete Edition - MacGameStore">
            <a:extLst>
              <a:ext uri="{FF2B5EF4-FFF2-40B4-BE49-F238E27FC236}">
                <a16:creationId xmlns:a16="http://schemas.microsoft.com/office/drawing/2014/main" id="{E7564139-33B8-7E97-9720-DB1D64767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274" y="2310734"/>
            <a:ext cx="7282926" cy="44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6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026-03-21 12-58-08">
            <a:hlinkClick r:id="" action="ppaction://media"/>
            <a:extLst>
              <a:ext uri="{FF2B5EF4-FFF2-40B4-BE49-F238E27FC236}">
                <a16:creationId xmlns:a16="http://schemas.microsoft.com/office/drawing/2014/main" id="{8EEB9B94-C22A-893A-139C-5136E69B7C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550819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8EA1D-D261-3721-4932-4D4E44AB23FD}"/>
              </a:ext>
            </a:extLst>
          </p:cNvPr>
          <p:cNvSpPr txBox="1"/>
          <p:nvPr/>
        </p:nvSpPr>
        <p:spPr>
          <a:xfrm>
            <a:off x="3873490" y="258432"/>
            <a:ext cx="6208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Civilization</a:t>
            </a:r>
            <a:r>
              <a:rPr lang="hr-HR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 Clash</a:t>
            </a:r>
          </a:p>
        </p:txBody>
      </p:sp>
    </p:spTree>
    <p:extLst>
      <p:ext uri="{BB962C8B-B14F-4D97-AF65-F5344CB8AC3E}">
        <p14:creationId xmlns:p14="http://schemas.microsoft.com/office/powerpoint/2010/main" val="209134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BA66-F398-680B-59E6-2D075E58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Civilization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clash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D3B22-5FF1-B155-459C-DAC074758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0923" cy="4351338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2 civilizations at war</a:t>
            </a:r>
            <a:r>
              <a:rPr lang="hr-HR" noProof="0" dirty="0">
                <a:solidFill>
                  <a:schemeClr val="bg1"/>
                </a:solidFill>
              </a:rPr>
              <a:t> (</a:t>
            </a:r>
            <a:r>
              <a:rPr lang="hr-HR" noProof="0" dirty="0" err="1">
                <a:solidFill>
                  <a:schemeClr val="bg1"/>
                </a:solidFill>
              </a:rPr>
              <a:t>teal</a:t>
            </a:r>
            <a:r>
              <a:rPr lang="hr-HR" noProof="0" dirty="0">
                <a:solidFill>
                  <a:schemeClr val="bg1"/>
                </a:solidFill>
              </a:rPr>
              <a:t> &amp; </a:t>
            </a:r>
            <a:r>
              <a:rPr lang="hr-HR" noProof="0" dirty="0" err="1">
                <a:solidFill>
                  <a:schemeClr val="bg1"/>
                </a:solidFill>
              </a:rPr>
              <a:t>white</a:t>
            </a:r>
            <a:r>
              <a:rPr lang="hr-HR" noProof="0" dirty="0">
                <a:solidFill>
                  <a:schemeClr val="bg1"/>
                </a:solidFill>
              </a:rPr>
              <a:t>)</a:t>
            </a:r>
            <a:endParaRPr lang="en-GB" noProof="0" dirty="0">
              <a:solidFill>
                <a:schemeClr val="bg1"/>
              </a:solidFill>
            </a:endParaRPr>
          </a:p>
          <a:p>
            <a:r>
              <a:rPr lang="en-GB" noProof="0" dirty="0" err="1">
                <a:solidFill>
                  <a:schemeClr val="bg1"/>
                </a:solidFill>
              </a:rPr>
              <a:t>tactial</a:t>
            </a:r>
            <a:r>
              <a:rPr lang="hr-HR" noProof="0" dirty="0">
                <a:solidFill>
                  <a:schemeClr val="bg1"/>
                </a:solidFill>
              </a:rPr>
              <a:t> </a:t>
            </a:r>
            <a:r>
              <a:rPr lang="hr-HR" noProof="0" dirty="0" err="1">
                <a:solidFill>
                  <a:schemeClr val="bg1"/>
                </a:solidFill>
              </a:rPr>
              <a:t>turn</a:t>
            </a:r>
            <a:r>
              <a:rPr lang="hr-HR" dirty="0">
                <a:solidFill>
                  <a:schemeClr val="bg1"/>
                </a:solidFill>
              </a:rPr>
              <a:t>-</a:t>
            </a:r>
            <a:r>
              <a:rPr lang="hr-HR" dirty="0" err="1">
                <a:solidFill>
                  <a:schemeClr val="bg1"/>
                </a:solidFill>
              </a:rPr>
              <a:t>based</a:t>
            </a:r>
            <a:r>
              <a:rPr lang="hr-HR" dirty="0">
                <a:solidFill>
                  <a:schemeClr val="bg1"/>
                </a:solidFill>
              </a:rPr>
              <a:t> game</a:t>
            </a:r>
          </a:p>
          <a:p>
            <a:r>
              <a:rPr lang="hr-HR" dirty="0" err="1">
                <a:solidFill>
                  <a:schemeClr val="bg1"/>
                </a:solidFill>
              </a:rPr>
              <a:t>players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submit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their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inputs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every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turn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 err="1">
                <a:solidFill>
                  <a:schemeClr val="bg1"/>
                </a:solidFill>
              </a:rPr>
              <a:t>each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player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owns</a:t>
            </a:r>
            <a:r>
              <a:rPr lang="hr-HR" dirty="0">
                <a:solidFill>
                  <a:schemeClr val="bg1"/>
                </a:solidFill>
              </a:rPr>
              <a:t>: </a:t>
            </a:r>
            <a:r>
              <a:rPr lang="hr-HR" dirty="0" err="1">
                <a:solidFill>
                  <a:schemeClr val="bg1"/>
                </a:solidFill>
              </a:rPr>
              <a:t>territory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cities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an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army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 err="1">
                <a:solidFill>
                  <a:schemeClr val="bg1"/>
                </a:solidFill>
              </a:rPr>
              <a:t>victory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through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domination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or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score</a:t>
            </a:r>
            <a:r>
              <a:rPr lang="hr-HR" dirty="0">
                <a:solidFill>
                  <a:schemeClr val="bg1"/>
                </a:solidFill>
              </a:rPr>
              <a:t> (time limit)</a:t>
            </a:r>
          </a:p>
        </p:txBody>
      </p:sp>
      <p:pic>
        <p:nvPicPr>
          <p:cNvPr id="4" name="2026-03-21 13-05-38">
            <a:hlinkClick r:id="" action="ppaction://media"/>
            <a:extLst>
              <a:ext uri="{FF2B5EF4-FFF2-40B4-BE49-F238E27FC236}">
                <a16:creationId xmlns:a16="http://schemas.microsoft.com/office/drawing/2014/main" id="{55013874-5FF7-FE5A-C02C-72F5C3E4F5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2645" y="2215258"/>
            <a:ext cx="6350349" cy="357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4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857691-8117-8383-0613-660DAA52F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746" y1="61017" x2="37811" y2="54802"/>
                        <a14:foregroundMark x1="49751" y1="50847" x2="45274" y2="58192"/>
                        <a14:foregroundMark x1="46269" y1="21469" x2="46269" y2="21469"/>
                        <a14:backgroundMark x1="63682" y1="25424" x2="90547" y2="53107"/>
                        <a14:backgroundMark x1="90547" y1="53107" x2="90547" y2="53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2623" y="1318733"/>
            <a:ext cx="1667682" cy="14685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049F1C-59EF-1F90-D8D2-0F516F06D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40540" y="1195913"/>
            <a:ext cx="1446944" cy="13386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BF7D9B-47ED-B1DB-A5F8-77E20992A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2913" y="1330850"/>
            <a:ext cx="1162212" cy="13527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76AB33-9B42-F4EE-328C-593B1778A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3208" y="4647128"/>
            <a:ext cx="2416057" cy="485077"/>
          </a:xfrm>
          <a:prstGeom prst="rect">
            <a:avLst/>
          </a:prstGeom>
        </p:spPr>
      </p:pic>
      <p:pic>
        <p:nvPicPr>
          <p:cNvPr id="22" name="Graphic 21" descr="Eye with solid fill">
            <a:extLst>
              <a:ext uri="{FF2B5EF4-FFF2-40B4-BE49-F238E27FC236}">
                <a16:creationId xmlns:a16="http://schemas.microsoft.com/office/drawing/2014/main" id="{8BF41645-6ED2-DD06-180A-72B74B21EC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8314" y="4479635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3B4B4E6-729A-4E7B-701C-BBD748113B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796" b="91204" l="8013" r="89744">
                        <a14:foregroundMark x1="17308" y1="52315" x2="41346" y2="34259"/>
                        <a14:foregroundMark x1="41346" y1="34259" x2="43269" y2="34722"/>
                        <a14:foregroundMark x1="9615" y1="47222" x2="10897" y2="59259"/>
                        <a14:foregroundMark x1="10256" y1="48611" x2="12179" y2="64352"/>
                        <a14:foregroundMark x1="10256" y1="59259" x2="10897" y2="43519"/>
                        <a14:foregroundMark x1="35256" y1="35185" x2="51923" y2="31481"/>
                        <a14:foregroundMark x1="51923" y1="31481" x2="74359" y2="47685"/>
                        <a14:foregroundMark x1="74359" y1="47685" x2="49679" y2="62037"/>
                        <a14:foregroundMark x1="49679" y1="62037" x2="35577" y2="60185"/>
                        <a14:foregroundMark x1="63782" y1="47222" x2="39423" y2="53241"/>
                        <a14:foregroundMark x1="39423" y1="53241" x2="35256" y2="50926"/>
                        <a14:foregroundMark x1="8333" y1="52778" x2="9615" y2="62037"/>
                        <a14:foregroundMark x1="24679" y1="47685" x2="51923" y2="61111"/>
                        <a14:foregroundMark x1="51923" y1="61111" x2="75321" y2="52315"/>
                        <a14:foregroundMark x1="75321" y1="52315" x2="52564" y2="44907"/>
                        <a14:foregroundMark x1="52564" y1="44907" x2="49359" y2="25463"/>
                        <a14:foregroundMark x1="53205" y1="28241" x2="36859" y2="51852"/>
                        <a14:foregroundMark x1="36859" y1="51852" x2="63462" y2="62963"/>
                        <a14:foregroundMark x1="63462" y1="62963" x2="80449" y2="46296"/>
                        <a14:foregroundMark x1="45833" y1="26389" x2="29808" y2="49074"/>
                        <a14:foregroundMark x1="29808" y1="49074" x2="50641" y2="67593"/>
                        <a14:foregroundMark x1="50641" y1="67593" x2="60897" y2="60185"/>
                        <a14:foregroundMark x1="44551" y1="69444" x2="29167" y2="54630"/>
                        <a14:foregroundMark x1="49038" y1="91204" x2="49038" y2="91204"/>
                        <a14:foregroundMark x1="9936" y1="63426" x2="9936" y2="63426"/>
                        <a14:foregroundMark x1="8333" y1="60648" x2="8333" y2="60648"/>
                        <a14:foregroundMark x1="8333" y1="62963" x2="8333" y2="629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06451" y="1195913"/>
            <a:ext cx="1629000" cy="11277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132B95-9953-18FD-C88B-D53F6DDD77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032" b="90295" l="4766" r="94781">
                        <a14:foregroundMark x1="8018" y1="41772" x2="10968" y2="40084"/>
                        <a14:foregroundMark x1="4766" y1="41772" x2="4766" y2="41772"/>
                        <a14:foregroundMark x1="94781" y1="55415" x2="87670" y2="55274"/>
                        <a14:foregroundMark x1="56884" y1="90436" x2="56884" y2="90436"/>
                        <a14:foregroundMark x1="43268" y1="7032" x2="42663" y2="133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500" y="1027906"/>
            <a:ext cx="3271314" cy="175938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BF63FBA-62C2-CEFF-DD96-445292919EB3}"/>
              </a:ext>
            </a:extLst>
          </p:cNvPr>
          <p:cNvSpPr txBox="1"/>
          <p:nvPr/>
        </p:nvSpPr>
        <p:spPr>
          <a:xfrm>
            <a:off x="1562582" y="2787289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Map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shape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288580-F047-C20D-7905-A92D55CE4EB1}"/>
              </a:ext>
            </a:extLst>
          </p:cNvPr>
          <p:cNvSpPr txBox="1"/>
          <p:nvPr/>
        </p:nvSpPr>
        <p:spPr>
          <a:xfrm>
            <a:off x="5049986" y="2787289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Special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tiles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8E6FE-51D3-7DEA-3997-7B43932A4485}"/>
              </a:ext>
            </a:extLst>
          </p:cNvPr>
          <p:cNvSpPr txBox="1"/>
          <p:nvPr/>
        </p:nvSpPr>
        <p:spPr>
          <a:xfrm>
            <a:off x="8636926" y="2787289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Army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08C16C-8039-8115-932D-43A0EF1FEB32}"/>
              </a:ext>
            </a:extLst>
          </p:cNvPr>
          <p:cNvSpPr txBox="1"/>
          <p:nvPr/>
        </p:nvSpPr>
        <p:spPr>
          <a:xfrm>
            <a:off x="3232123" y="5675908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Economy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scaling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B49B5A-5CF4-530C-F01F-FCC385C1CDC5}"/>
              </a:ext>
            </a:extLst>
          </p:cNvPr>
          <p:cNvSpPr txBox="1"/>
          <p:nvPr/>
        </p:nvSpPr>
        <p:spPr>
          <a:xfrm>
            <a:off x="7072182" y="5685463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Partial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information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4A9564-673D-1DCE-999F-D15D8B681008}"/>
              </a:ext>
            </a:extLst>
          </p:cNvPr>
          <p:cNvSpPr/>
          <p:nvPr/>
        </p:nvSpPr>
        <p:spPr>
          <a:xfrm>
            <a:off x="696712" y="649804"/>
            <a:ext cx="3586940" cy="2936240"/>
          </a:xfrm>
          <a:prstGeom prst="rect">
            <a:avLst/>
          </a:prstGeom>
          <a:noFill/>
          <a:ln>
            <a:solidFill>
              <a:srgbClr val="00C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338600-3327-FAD8-9111-519B1EC246A4}"/>
              </a:ext>
            </a:extLst>
          </p:cNvPr>
          <p:cNvSpPr/>
          <p:nvPr/>
        </p:nvSpPr>
        <p:spPr>
          <a:xfrm>
            <a:off x="4345333" y="649804"/>
            <a:ext cx="3586940" cy="2936240"/>
          </a:xfrm>
          <a:prstGeom prst="rect">
            <a:avLst/>
          </a:prstGeom>
          <a:noFill/>
          <a:ln>
            <a:solidFill>
              <a:srgbClr val="00C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F94A59-D964-9B03-1492-E87422BD7E4E}"/>
              </a:ext>
            </a:extLst>
          </p:cNvPr>
          <p:cNvSpPr/>
          <p:nvPr/>
        </p:nvSpPr>
        <p:spPr>
          <a:xfrm>
            <a:off x="8015514" y="649804"/>
            <a:ext cx="3586940" cy="2936240"/>
          </a:xfrm>
          <a:prstGeom prst="rect">
            <a:avLst/>
          </a:prstGeom>
          <a:noFill/>
          <a:ln>
            <a:solidFill>
              <a:srgbClr val="00C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1D29F6-E416-DE8B-A9C6-36E18C1FD93B}"/>
              </a:ext>
            </a:extLst>
          </p:cNvPr>
          <p:cNvSpPr/>
          <p:nvPr/>
        </p:nvSpPr>
        <p:spPr>
          <a:xfrm>
            <a:off x="2572391" y="3662720"/>
            <a:ext cx="3586940" cy="2936240"/>
          </a:xfrm>
          <a:prstGeom prst="rect">
            <a:avLst/>
          </a:prstGeom>
          <a:noFill/>
          <a:ln>
            <a:solidFill>
              <a:srgbClr val="00C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B293F2-0CB0-1268-788D-82066DDD8193}"/>
              </a:ext>
            </a:extLst>
          </p:cNvPr>
          <p:cNvSpPr/>
          <p:nvPr/>
        </p:nvSpPr>
        <p:spPr>
          <a:xfrm>
            <a:off x="6205544" y="3662720"/>
            <a:ext cx="3586940" cy="2936240"/>
          </a:xfrm>
          <a:prstGeom prst="rect">
            <a:avLst/>
          </a:prstGeom>
          <a:noFill/>
          <a:ln>
            <a:solidFill>
              <a:srgbClr val="00CC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4446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61AA-3C0C-046C-E173-F8B5EE0D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Tile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types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E1922-199C-1075-F4CF-332DBCF7D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83" b="89674" l="8000" r="96000">
                        <a14:foregroundMark x1="8444" y1="42391" x2="8444" y2="42391"/>
                        <a14:foregroundMark x1="93333" y1="44022" x2="93333" y2="44022"/>
                        <a14:foregroundMark x1="96000" y1="42935" x2="96000" y2="429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2818" y="1899627"/>
            <a:ext cx="2143424" cy="175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725D97-8141-27F1-1F36-2205DF92D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8017" r="91561">
                        <a14:foregroundMark x1="8017" y1="44286" x2="8017" y2="44286"/>
                        <a14:foregroundMark x1="91561" y1="47143" x2="91561" y2="471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95467" y="1899627"/>
            <a:ext cx="2589010" cy="15293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A9A839-ED45-08E5-1FEE-DC03727A17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48" b="94241" l="5742" r="91866">
                        <a14:foregroundMark x1="6220" y1="71204" x2="6220" y2="71204"/>
                        <a14:foregroundMark x1="51675" y1="94241" x2="51675" y2="94241"/>
                        <a14:foregroundMark x1="91866" y1="70681" x2="91866" y2="706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723" y="1579435"/>
            <a:ext cx="2023870" cy="18495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1D3517-5585-C3E3-8B2E-DCDCA3E92D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50746" y1="61017" x2="37811" y2="54802"/>
                        <a14:foregroundMark x1="49751" y1="50847" x2="45274" y2="58192"/>
                        <a14:foregroundMark x1="46269" y1="21469" x2="46269" y2="21469"/>
                        <a14:backgroundMark x1="63682" y1="25424" x2="90547" y2="53107"/>
                        <a14:backgroundMark x1="90547" y1="53107" x2="90547" y2="53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3298" y="4158900"/>
            <a:ext cx="2229109" cy="19629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77937A-3AB1-C0BF-7AAA-6EF8B22DBD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796" b="91204" l="8013" r="89744">
                        <a14:foregroundMark x1="17308" y1="52315" x2="41346" y2="34259"/>
                        <a14:foregroundMark x1="41346" y1="34259" x2="43269" y2="34722"/>
                        <a14:foregroundMark x1="9615" y1="47222" x2="10897" y2="59259"/>
                        <a14:foregroundMark x1="10256" y1="48611" x2="12179" y2="64352"/>
                        <a14:foregroundMark x1="10256" y1="59259" x2="10897" y2="43519"/>
                        <a14:foregroundMark x1="35256" y1="35185" x2="51923" y2="31481"/>
                        <a14:foregroundMark x1="51923" y1="31481" x2="74359" y2="47685"/>
                        <a14:foregroundMark x1="74359" y1="47685" x2="49679" y2="62037"/>
                        <a14:foregroundMark x1="49679" y1="62037" x2="35577" y2="60185"/>
                        <a14:foregroundMark x1="63782" y1="47222" x2="39423" y2="53241"/>
                        <a14:foregroundMark x1="39423" y1="53241" x2="35256" y2="50926"/>
                        <a14:foregroundMark x1="8333" y1="52778" x2="9615" y2="62037"/>
                        <a14:foregroundMark x1="24679" y1="47685" x2="51923" y2="61111"/>
                        <a14:foregroundMark x1="51923" y1="61111" x2="75321" y2="52315"/>
                        <a14:foregroundMark x1="75321" y1="52315" x2="52564" y2="44907"/>
                        <a14:foregroundMark x1="52564" y1="44907" x2="49359" y2="25463"/>
                        <a14:foregroundMark x1="53205" y1="28241" x2="36859" y2="51852"/>
                        <a14:foregroundMark x1="36859" y1="51852" x2="63462" y2="62963"/>
                        <a14:foregroundMark x1="63462" y1="62963" x2="80449" y2="46296"/>
                        <a14:foregroundMark x1="45833" y1="26389" x2="29808" y2="49074"/>
                        <a14:foregroundMark x1="29808" y1="49074" x2="50641" y2="67593"/>
                        <a14:foregroundMark x1="50641" y1="67593" x2="60897" y2="60185"/>
                        <a14:foregroundMark x1="44551" y1="69444" x2="29167" y2="54630"/>
                        <a14:foregroundMark x1="49038" y1="91204" x2="49038" y2="91204"/>
                        <a14:foregroundMark x1="9936" y1="63426" x2="9936" y2="63426"/>
                        <a14:foregroundMark x1="8333" y1="60648" x2="8333" y2="60648"/>
                        <a14:foregroundMark x1="8333" y1="62963" x2="8333" y2="629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0160" y="4296060"/>
            <a:ext cx="2340593" cy="16204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CF6CD2-DD5C-B2F1-4D69-1210E45F4DE8}"/>
              </a:ext>
            </a:extLst>
          </p:cNvPr>
          <p:cNvSpPr txBox="1"/>
          <p:nvPr/>
        </p:nvSpPr>
        <p:spPr>
          <a:xfrm>
            <a:off x="3294436" y="3637939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Impassable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B5E16-5068-81EA-DA28-215CED22FD32}"/>
              </a:ext>
            </a:extLst>
          </p:cNvPr>
          <p:cNvSpPr txBox="1"/>
          <p:nvPr/>
        </p:nvSpPr>
        <p:spPr>
          <a:xfrm>
            <a:off x="7303926" y="3652472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Economy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C1402-CB9B-FD44-81C7-396AE802DB7C}"/>
              </a:ext>
            </a:extLst>
          </p:cNvPr>
          <p:cNvSpPr txBox="1"/>
          <p:nvPr/>
        </p:nvSpPr>
        <p:spPr>
          <a:xfrm>
            <a:off x="9831432" y="3059146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5G to take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7F779A-D174-8753-45C4-C3AD9B687BCE}"/>
              </a:ext>
            </a:extLst>
          </p:cNvPr>
          <p:cNvSpPr txBox="1"/>
          <p:nvPr/>
        </p:nvSpPr>
        <p:spPr>
          <a:xfrm>
            <a:off x="9831431" y="3409346"/>
            <a:ext cx="215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+0.5G /</a:t>
            </a:r>
            <a:r>
              <a:rPr lang="hr-HR" dirty="0" err="1">
                <a:solidFill>
                  <a:schemeClr val="bg1"/>
                </a:solidFill>
              </a:rPr>
              <a:t>turn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2DB18-CD46-3562-9316-CBF9F400D224}"/>
              </a:ext>
            </a:extLst>
          </p:cNvPr>
          <p:cNvSpPr txBox="1"/>
          <p:nvPr/>
        </p:nvSpPr>
        <p:spPr>
          <a:xfrm>
            <a:off x="8380371" y="4938197"/>
            <a:ext cx="2152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+5G / </a:t>
            </a:r>
            <a:r>
              <a:rPr lang="hr-HR" dirty="0" err="1">
                <a:solidFill>
                  <a:schemeClr val="bg1"/>
                </a:solidFill>
              </a:rPr>
              <a:t>turn</a:t>
            </a:r>
            <a:endParaRPr lang="hr-HR" dirty="0">
              <a:solidFill>
                <a:schemeClr val="bg1"/>
              </a:solidFill>
            </a:endParaRPr>
          </a:p>
          <a:p>
            <a:pPr algn="ctr"/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E3FA25-B999-617D-8E25-878C8DF8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6"/>
          <a:stretch>
            <a:fillRect/>
          </a:stretch>
        </p:blipFill>
        <p:spPr>
          <a:xfrm>
            <a:off x="2630601" y="690880"/>
            <a:ext cx="10574296" cy="50470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BD988-F7AA-5931-0DB7-A447D6E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192"/>
            <a:ext cx="10515600" cy="1325563"/>
          </a:xfrm>
        </p:spPr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Map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generation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89F0F0-123A-643A-8F21-5C04F24A1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2" t="5349" r="2524"/>
          <a:stretch>
            <a:fillRect/>
          </a:stretch>
        </p:blipFill>
        <p:spPr>
          <a:xfrm>
            <a:off x="548640" y="4216400"/>
            <a:ext cx="4206240" cy="237732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B65F6B-2A5F-6109-D091-0E695C9E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Tournament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map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3 </a:t>
            </a:r>
            <a:r>
              <a:rPr lang="hr-HR" dirty="0" err="1">
                <a:solidFill>
                  <a:schemeClr val="bg1"/>
                </a:solidFill>
              </a:rPr>
              <a:t>lanes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 err="1">
                <a:solidFill>
                  <a:schemeClr val="bg1"/>
                </a:solidFill>
              </a:rPr>
              <a:t>Blitz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map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for </a:t>
            </a:r>
            <a:r>
              <a:rPr lang="hr-HR" dirty="0" err="1">
                <a:solidFill>
                  <a:schemeClr val="bg1"/>
                </a:solidFill>
              </a:rPr>
              <a:t>testing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4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3E0F-328C-BEA0-9CA0-479F0E1E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Special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tiles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AA5BB0-1D22-5279-2CC3-B505F55A6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96" b="91204" l="8013" r="89744">
                        <a14:foregroundMark x1="17308" y1="52315" x2="41346" y2="34259"/>
                        <a14:foregroundMark x1="41346" y1="34259" x2="43269" y2="34722"/>
                        <a14:foregroundMark x1="9615" y1="47222" x2="10897" y2="59259"/>
                        <a14:foregroundMark x1="10256" y1="48611" x2="12179" y2="64352"/>
                        <a14:foregroundMark x1="10256" y1="59259" x2="10897" y2="43519"/>
                        <a14:foregroundMark x1="35256" y1="35185" x2="51923" y2="31481"/>
                        <a14:foregroundMark x1="51923" y1="31481" x2="74359" y2="47685"/>
                        <a14:foregroundMark x1="74359" y1="47685" x2="49679" y2="62037"/>
                        <a14:foregroundMark x1="49679" y1="62037" x2="35577" y2="60185"/>
                        <a14:foregroundMark x1="63782" y1="47222" x2="39423" y2="53241"/>
                        <a14:foregroundMark x1="39423" y1="53241" x2="35256" y2="50926"/>
                        <a14:foregroundMark x1="8333" y1="52778" x2="9615" y2="62037"/>
                        <a14:foregroundMark x1="24679" y1="47685" x2="51923" y2="61111"/>
                        <a14:foregroundMark x1="51923" y1="61111" x2="75321" y2="52315"/>
                        <a14:foregroundMark x1="75321" y1="52315" x2="52564" y2="44907"/>
                        <a14:foregroundMark x1="52564" y1="44907" x2="49359" y2="25463"/>
                        <a14:foregroundMark x1="53205" y1="28241" x2="36859" y2="51852"/>
                        <a14:foregroundMark x1="36859" y1="51852" x2="63462" y2="62963"/>
                        <a14:foregroundMark x1="63462" y1="62963" x2="80449" y2="46296"/>
                        <a14:foregroundMark x1="45833" y1="26389" x2="29808" y2="49074"/>
                        <a14:foregroundMark x1="29808" y1="49074" x2="50641" y2="67593"/>
                        <a14:foregroundMark x1="50641" y1="67593" x2="60897" y2="60185"/>
                        <a14:foregroundMark x1="44551" y1="69444" x2="29167" y2="54630"/>
                        <a14:foregroundMark x1="49038" y1="91204" x2="49038" y2="91204"/>
                        <a14:foregroundMark x1="9936" y1="63426" x2="9936" y2="63426"/>
                        <a14:foregroundMark x1="8333" y1="60648" x2="8333" y2="60648"/>
                        <a14:foregroundMark x1="8333" y1="62963" x2="8333" y2="629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6240" y="2430247"/>
            <a:ext cx="2340593" cy="16204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7A10BA-C793-B197-D8C6-87DDF5CE3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0746" y1="61017" x2="37811" y2="54802"/>
                        <a14:foregroundMark x1="49751" y1="50847" x2="45274" y2="58192"/>
                        <a14:foregroundMark x1="46269" y1="21469" x2="46269" y2="21469"/>
                        <a14:backgroundMark x1="63682" y1="25424" x2="90547" y2="53107"/>
                        <a14:backgroundMark x1="90547" y1="53107" x2="90547" y2="53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3218" y="2216946"/>
            <a:ext cx="2229109" cy="1962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B66792-6C6C-FCCF-05C7-3D63E6386CE0}"/>
              </a:ext>
            </a:extLst>
          </p:cNvPr>
          <p:cNvSpPr txBox="1"/>
          <p:nvPr/>
        </p:nvSpPr>
        <p:spPr>
          <a:xfrm>
            <a:off x="2149641" y="4150486"/>
            <a:ext cx="270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Tagged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by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a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player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30F95-E8AB-7883-F456-2EBEA9CDF1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8149" y="2330419"/>
            <a:ext cx="2421614" cy="1820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E4EEA-6EAE-CD7E-7F83-5B1E28205E1A}"/>
                  </a:ext>
                </a:extLst>
              </p:cNvPr>
              <p:cNvSpPr txBox="1"/>
              <p:nvPr/>
            </p:nvSpPr>
            <p:spPr>
              <a:xfrm>
                <a:off x="2271561" y="4519818"/>
                <a:ext cx="27068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+3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gold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per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turn</a:t>
                </a:r>
                <a:endParaRPr lang="hr-HR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score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every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turn</a:t>
                </a:r>
                <a:br>
                  <a:rPr lang="hr-HR" dirty="0">
                    <a:solidFill>
                      <a:schemeClr val="bg1"/>
                    </a:solidFill>
                  </a:rPr>
                </a:b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3</a:t>
                </a:r>
                <a:r>
                  <a:rPr lang="hr-HR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hr-HR" dirty="0">
                    <a:solidFill>
                      <a:schemeClr val="bg1"/>
                    </a:solidFill>
                  </a:rPr>
                  <a:t> 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total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num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cities</a:t>
                </a:r>
                <a:r>
                  <a:rPr lang="hr-HR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on </a:t>
                </a:r>
                <a:r>
                  <a:rPr lang="hr-HR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map</a:t>
                </a:r>
                <a:endParaRPr lang="hr-H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E4EEA-6EAE-CD7E-7F83-5B1E28205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561" y="4519818"/>
                <a:ext cx="2706839" cy="1200329"/>
              </a:xfrm>
              <a:prstGeom prst="rect">
                <a:avLst/>
              </a:prstGeom>
              <a:blipFill>
                <a:blip r:embed="rId8"/>
                <a:stretch>
                  <a:fillRect l="-2027" t="-2538" b="-7107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EA93807-E842-AC65-65AD-5D1563AE4960}"/>
              </a:ext>
            </a:extLst>
          </p:cNvPr>
          <p:cNvSpPr txBox="1"/>
          <p:nvPr/>
        </p:nvSpPr>
        <p:spPr>
          <a:xfrm>
            <a:off x="7884694" y="4147318"/>
            <a:ext cx="270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Built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by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player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27D52-E61F-4D21-F58D-09541FA5AC67}"/>
              </a:ext>
            </a:extLst>
          </p:cNvPr>
          <p:cNvSpPr txBox="1"/>
          <p:nvPr/>
        </p:nvSpPr>
        <p:spPr>
          <a:xfrm>
            <a:off x="7833116" y="4516650"/>
            <a:ext cx="2706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+5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gold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per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turn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build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units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captured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19E91C-BA8A-8FA7-186F-D4FB4FC2736F}"/>
              </a:ext>
            </a:extLst>
          </p:cNvPr>
          <p:cNvSpPr txBox="1"/>
          <p:nvPr/>
        </p:nvSpPr>
        <p:spPr>
          <a:xfrm>
            <a:off x="2074729" y="1619495"/>
            <a:ext cx="270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Monument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9176-8D7D-62B3-1D05-10CF4AAA0D38}"/>
              </a:ext>
            </a:extLst>
          </p:cNvPr>
          <p:cNvSpPr txBox="1"/>
          <p:nvPr/>
        </p:nvSpPr>
        <p:spPr>
          <a:xfrm>
            <a:off x="7833116" y="1623550"/>
            <a:ext cx="270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City</a:t>
            </a:r>
          </a:p>
        </p:txBody>
      </p:sp>
    </p:spTree>
    <p:extLst>
      <p:ext uri="{BB962C8B-B14F-4D97-AF65-F5344CB8AC3E}">
        <p14:creationId xmlns:p14="http://schemas.microsoft.com/office/powerpoint/2010/main" val="295541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259A-9E24-3058-FF8B-A604452D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Actions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E2C80A-1BA9-3FE3-BEF0-B698BBEC9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0923" cy="4351338"/>
          </a:xfrm>
        </p:spPr>
        <p:txBody>
          <a:bodyPr/>
          <a:lstStyle/>
          <a:p>
            <a:r>
              <a:rPr lang="hr-HR" dirty="0">
                <a:solidFill>
                  <a:schemeClr val="bg1"/>
                </a:solidFill>
              </a:rPr>
              <a:t>EXPAND_TERRITORY (</a:t>
            </a:r>
            <a:r>
              <a:rPr lang="hr-HR" dirty="0" err="1">
                <a:solidFill>
                  <a:schemeClr val="bg1"/>
                </a:solidFill>
              </a:rPr>
              <a:t>x,y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BUILD_CITY (</a:t>
            </a:r>
            <a:r>
              <a:rPr lang="hr-HR" dirty="0" err="1">
                <a:solidFill>
                  <a:schemeClr val="bg1"/>
                </a:solidFill>
              </a:rPr>
              <a:t>x,y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BUILD_UNIT </a:t>
            </a:r>
            <a:r>
              <a:rPr lang="hr-HR" dirty="0" err="1">
                <a:solidFill>
                  <a:schemeClr val="bg1"/>
                </a:solidFill>
              </a:rPr>
              <a:t>city</a:t>
            </a:r>
            <a:r>
              <a:rPr lang="hr-HR" dirty="0">
                <a:solidFill>
                  <a:schemeClr val="bg1"/>
                </a:solidFill>
              </a:rPr>
              <a:t> (x, y), </a:t>
            </a:r>
            <a:r>
              <a:rPr lang="hr-HR" dirty="0" err="1">
                <a:solidFill>
                  <a:schemeClr val="bg1"/>
                </a:solidFill>
              </a:rPr>
              <a:t>type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MOVE (x1, y1) -&gt; (x2, y2)</a:t>
            </a:r>
          </a:p>
          <a:p>
            <a:pPr marL="0" indent="0">
              <a:buNone/>
            </a:pPr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11" name="2026-03-21 15-01-20">
            <a:hlinkClick r:id="" action="ppaction://media"/>
            <a:extLst>
              <a:ext uri="{FF2B5EF4-FFF2-40B4-BE49-F238E27FC236}">
                <a16:creationId xmlns:a16="http://schemas.microsoft.com/office/drawing/2014/main" id="{3D030E6B-5238-BC59-895C-200BEAD639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5659" t="22656" r="43508" b="34083"/>
          <a:stretch>
            <a:fillRect/>
          </a:stretch>
        </p:blipFill>
        <p:spPr>
          <a:xfrm>
            <a:off x="5933440" y="1524000"/>
            <a:ext cx="4978400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5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3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0003-53F9-87B6-F100-3CA34E20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Units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78EED2-4F13-F891-E846-8E0C3DB42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62500" y1="43750" x2="45625" y2="70139"/>
                        <a14:backgroundMark x1="25625" y1="61806" x2="25625" y2="673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6892" y="3534914"/>
            <a:ext cx="2607841" cy="23470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8B7B15-4F57-DE83-37B3-54DEE6A04A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2885" y1="53704" x2="52885" y2="53704"/>
                        <a14:foregroundMark x1="50000" y1="56481" x2="50000" y2="56481"/>
                        <a14:foregroundMark x1="46154" y1="61111" x2="46154" y2="61111"/>
                        <a14:foregroundMark x1="38462" y1="52778" x2="38462" y2="52778"/>
                        <a14:foregroundMark x1="41346" y1="64815" x2="41346" y2="64815"/>
                        <a14:foregroundMark x1="56731" y1="49074" x2="56731" y2="49074"/>
                        <a14:backgroundMark x1="41346" y1="50000" x2="41346" y2="50000"/>
                        <a14:backgroundMark x1="39423" y1="52778" x2="39423" y2="52778"/>
                        <a14:backgroundMark x1="53846" y1="57407" x2="53846" y2="57407"/>
                        <a14:backgroundMark x1="48077" y1="61111" x2="48077" y2="61111"/>
                        <a14:backgroundMark x1="52885" y1="56481" x2="52885" y2="56481"/>
                        <a14:backgroundMark x1="51923" y1="57407" x2="51923" y2="574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4862" y="3761116"/>
            <a:ext cx="1543578" cy="16029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5FF59A-83F6-A8C3-5661-A511EA9E73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63809" y="1233920"/>
            <a:ext cx="1586590" cy="16029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F39A2B-A086-9473-C743-09969C26BB1C}"/>
              </a:ext>
            </a:extLst>
          </p:cNvPr>
          <p:cNvSpPr txBox="1"/>
          <p:nvPr/>
        </p:nvSpPr>
        <p:spPr>
          <a:xfrm>
            <a:off x="7443916" y="1359538"/>
            <a:ext cx="27068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Raider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(15G)</a:t>
            </a:r>
          </a:p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HP: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Damage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Movement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2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Special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plunder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C5C346-9E18-D642-3F2F-10D654B940B9}"/>
              </a:ext>
            </a:extLst>
          </p:cNvPr>
          <p:cNvSpPr txBox="1"/>
          <p:nvPr/>
        </p:nvSpPr>
        <p:spPr>
          <a:xfrm>
            <a:off x="687730" y="3797623"/>
            <a:ext cx="30393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Soldier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(20G)</a:t>
            </a:r>
          </a:p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HP: 2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Damage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Movement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Special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city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capture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Zone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control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8163C-0368-8BAA-FF45-A8AA867A3CDE}"/>
              </a:ext>
            </a:extLst>
          </p:cNvPr>
          <p:cNvSpPr txBox="1"/>
          <p:nvPr/>
        </p:nvSpPr>
        <p:spPr>
          <a:xfrm>
            <a:off x="9307545" y="3831279"/>
            <a:ext cx="2706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Archer (25G)</a:t>
            </a:r>
          </a:p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HP: 2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Damage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Movement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 1</a:t>
            </a:r>
          </a:p>
          <a:p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Special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Ranged</a:t>
            </a:r>
            <a:endParaRPr lang="hr-H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A4A848-9819-41EC-CDDF-A1B3BEE42ED7}"/>
              </a:ext>
            </a:extLst>
          </p:cNvPr>
          <p:cNvCxnSpPr>
            <a:cxnSpLocks/>
          </p:cNvCxnSpPr>
          <p:nvPr/>
        </p:nvCxnSpPr>
        <p:spPr>
          <a:xfrm flipV="1">
            <a:off x="4748085" y="2836866"/>
            <a:ext cx="622568" cy="698048"/>
          </a:xfrm>
          <a:prstGeom prst="straightConnector1">
            <a:avLst/>
          </a:prstGeom>
          <a:ln w="57150">
            <a:solidFill>
              <a:srgbClr val="00CC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F75A2B-FC08-479C-0118-4F24A358F045}"/>
              </a:ext>
            </a:extLst>
          </p:cNvPr>
          <p:cNvCxnSpPr>
            <a:cxnSpLocks/>
          </p:cNvCxnSpPr>
          <p:nvPr/>
        </p:nvCxnSpPr>
        <p:spPr>
          <a:xfrm>
            <a:off x="6750399" y="2836866"/>
            <a:ext cx="693517" cy="868795"/>
          </a:xfrm>
          <a:prstGeom prst="straightConnector1">
            <a:avLst/>
          </a:prstGeom>
          <a:ln w="57150">
            <a:solidFill>
              <a:srgbClr val="00CC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39AEB3-B21C-8469-2BA9-4A82B401F155}"/>
              </a:ext>
            </a:extLst>
          </p:cNvPr>
          <p:cNvCxnSpPr>
            <a:cxnSpLocks/>
          </p:cNvCxnSpPr>
          <p:nvPr/>
        </p:nvCxnSpPr>
        <p:spPr>
          <a:xfrm flipH="1">
            <a:off x="5556266" y="4708442"/>
            <a:ext cx="1194133" cy="0"/>
          </a:xfrm>
          <a:prstGeom prst="straightConnector1">
            <a:avLst/>
          </a:prstGeom>
          <a:ln w="57150">
            <a:solidFill>
              <a:srgbClr val="00CC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38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26-03-21 13-05-38">
            <a:hlinkClick r:id="" action="ppaction://media"/>
            <a:extLst>
              <a:ext uri="{FF2B5EF4-FFF2-40B4-BE49-F238E27FC236}">
                <a16:creationId xmlns:a16="http://schemas.microsoft.com/office/drawing/2014/main" id="{F73709EA-6B0B-9ED5-0735-C7E2323F0A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0485" y="801060"/>
            <a:ext cx="10767895" cy="605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FEFC7A-6E2E-4426-E817-FA0C1FCE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Showcase</a:t>
            </a:r>
            <a:r>
              <a:rPr lang="hr-HR" dirty="0">
                <a:solidFill>
                  <a:schemeClr val="bg1"/>
                </a:solidFill>
              </a:rPr>
              <a:t>: </a:t>
            </a:r>
            <a:r>
              <a:rPr lang="hr-HR" dirty="0" err="1">
                <a:solidFill>
                  <a:schemeClr val="bg1"/>
                </a:solidFill>
              </a:rPr>
              <a:t>Combat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51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F584-6F76-ABEE-6804-D4B0BEB0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Geometric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upkeep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6358-C49D-0E99-2517-A311E9CA1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more </a:t>
            </a:r>
            <a:r>
              <a:rPr lang="hr-HR" dirty="0" err="1">
                <a:solidFill>
                  <a:schemeClr val="bg1"/>
                </a:solidFill>
              </a:rPr>
              <a:t>units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and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cities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you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have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more </a:t>
            </a:r>
            <a:r>
              <a:rPr lang="hr-HR" dirty="0" err="1">
                <a:solidFill>
                  <a:schemeClr val="bg1"/>
                </a:solidFill>
              </a:rPr>
              <a:t>expensive</a:t>
            </a:r>
            <a:r>
              <a:rPr lang="hr-HR" dirty="0">
                <a:solidFill>
                  <a:schemeClr val="bg1"/>
                </a:solidFill>
              </a:rPr>
              <a:t> to </a:t>
            </a:r>
            <a:r>
              <a:rPr lang="hr-HR" dirty="0" err="1">
                <a:solidFill>
                  <a:schemeClr val="bg1"/>
                </a:solidFill>
              </a:rPr>
              <a:t>build</a:t>
            </a:r>
            <a:r>
              <a:rPr lang="hr-HR" dirty="0">
                <a:solidFill>
                  <a:schemeClr val="bg1"/>
                </a:solidFill>
              </a:rPr>
              <a:t> / </a:t>
            </a:r>
            <a:r>
              <a:rPr lang="hr-HR" dirty="0" err="1">
                <a:solidFill>
                  <a:schemeClr val="bg1"/>
                </a:solidFill>
              </a:rPr>
              <a:t>maintain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they</a:t>
            </a:r>
            <a:r>
              <a:rPr lang="hr-HR" dirty="0">
                <a:solidFill>
                  <a:schemeClr val="bg1"/>
                </a:solidFill>
              </a:rPr>
              <a:t> are (50% more </a:t>
            </a:r>
            <a:r>
              <a:rPr lang="hr-HR" dirty="0" err="1">
                <a:solidFill>
                  <a:schemeClr val="bg1"/>
                </a:solidFill>
              </a:rPr>
              <a:t>expensive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next</a:t>
            </a:r>
            <a:r>
              <a:rPr lang="hr-HR" dirty="0">
                <a:solidFill>
                  <a:schemeClr val="bg1"/>
                </a:solidFill>
              </a:rPr>
              <a:t> time)</a:t>
            </a:r>
          </a:p>
          <a:p>
            <a:r>
              <a:rPr lang="hr-HR" dirty="0">
                <a:solidFill>
                  <a:schemeClr val="bg1"/>
                </a:solidFill>
              </a:rPr>
              <a:t>1 </a:t>
            </a:r>
            <a:r>
              <a:rPr lang="hr-HR" dirty="0" err="1">
                <a:solidFill>
                  <a:schemeClr val="bg1"/>
                </a:solidFill>
              </a:rPr>
              <a:t>unit</a:t>
            </a:r>
            <a:r>
              <a:rPr lang="hr-HR" dirty="0">
                <a:solidFill>
                  <a:schemeClr val="bg1"/>
                </a:solidFill>
              </a:rPr>
              <a:t> per </a:t>
            </a:r>
            <a:r>
              <a:rPr lang="hr-HR" dirty="0" err="1">
                <a:solidFill>
                  <a:schemeClr val="bg1"/>
                </a:solidFill>
              </a:rPr>
              <a:t>city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is</a:t>
            </a:r>
            <a:r>
              <a:rPr lang="hr-HR" dirty="0">
                <a:solidFill>
                  <a:schemeClr val="bg1"/>
                </a:solidFill>
              </a:rPr>
              <a:t> free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D91ED0-9D07-76FB-632A-569C84AB2406}"/>
              </a:ext>
            </a:extLst>
          </p:cNvPr>
          <p:cNvSpPr txBox="1">
            <a:spLocks/>
          </p:cNvSpPr>
          <p:nvPr/>
        </p:nvSpPr>
        <p:spPr>
          <a:xfrm>
            <a:off x="838200" y="322809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r-HR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EA08E8-CC5F-F6A0-EC5A-D783BA803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695950"/>
              </p:ext>
            </p:extLst>
          </p:nvPr>
        </p:nvGraphicFramePr>
        <p:xfrm>
          <a:off x="1302795" y="3740658"/>
          <a:ext cx="92185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62">
                  <a:extLst>
                    <a:ext uri="{9D8B030D-6E8A-4147-A177-3AD203B41FA5}">
                      <a16:colId xmlns:a16="http://schemas.microsoft.com/office/drawing/2014/main" val="650712038"/>
                    </a:ext>
                  </a:extLst>
                </a:gridCol>
                <a:gridCol w="580121">
                  <a:extLst>
                    <a:ext uri="{9D8B030D-6E8A-4147-A177-3AD203B41FA5}">
                      <a16:colId xmlns:a16="http://schemas.microsoft.com/office/drawing/2014/main" val="4235565820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173754783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2590273119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1410570661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4273796232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142308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 err="1"/>
                        <a:t>Excess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units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882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err="1"/>
                        <a:t>Upkeep</a:t>
                      </a:r>
                      <a:r>
                        <a:rPr lang="hr-HR" dirty="0"/>
                        <a:t> / </a:t>
                      </a:r>
                      <a:r>
                        <a:rPr lang="hr-HR" dirty="0" err="1"/>
                        <a:t>turn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2.5G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4.8G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8.1G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13.2G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6789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FA3362-7A34-F1E8-33AE-AF50D824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20792"/>
              </p:ext>
            </p:extLst>
          </p:nvPr>
        </p:nvGraphicFramePr>
        <p:xfrm>
          <a:off x="1302794" y="4958810"/>
          <a:ext cx="92185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62">
                  <a:extLst>
                    <a:ext uri="{9D8B030D-6E8A-4147-A177-3AD203B41FA5}">
                      <a16:colId xmlns:a16="http://schemas.microsoft.com/office/drawing/2014/main" val="650712038"/>
                    </a:ext>
                  </a:extLst>
                </a:gridCol>
                <a:gridCol w="671434">
                  <a:extLst>
                    <a:ext uri="{9D8B030D-6E8A-4147-A177-3AD203B41FA5}">
                      <a16:colId xmlns:a16="http://schemas.microsoft.com/office/drawing/2014/main" val="4235565820"/>
                    </a:ext>
                  </a:extLst>
                </a:gridCol>
                <a:gridCol w="1225629">
                  <a:extLst>
                    <a:ext uri="{9D8B030D-6E8A-4147-A177-3AD203B41FA5}">
                      <a16:colId xmlns:a16="http://schemas.microsoft.com/office/drawing/2014/main" val="173754783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2590273119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1410570661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4273796232"/>
                    </a:ext>
                  </a:extLst>
                </a:gridCol>
                <a:gridCol w="1316942">
                  <a:extLst>
                    <a:ext uri="{9D8B030D-6E8A-4147-A177-3AD203B41FA5}">
                      <a16:colId xmlns:a16="http://schemas.microsoft.com/office/drawing/2014/main" val="142308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City </a:t>
                      </a:r>
                      <a:r>
                        <a:rPr lang="hr-HR" dirty="0" err="1"/>
                        <a:t>number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882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err="1"/>
                        <a:t>Construction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cost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80G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120G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180G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270G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405G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608G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678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63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3537-DDE1-6FC2-3BB8-913A37D8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Fog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of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war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4" name="2026-03-21 15-21-11">
            <a:hlinkClick r:id="" action="ppaction://media"/>
            <a:extLst>
              <a:ext uri="{FF2B5EF4-FFF2-40B4-BE49-F238E27FC236}">
                <a16:creationId xmlns:a16="http://schemas.microsoft.com/office/drawing/2014/main" id="{3A9E19A2-E4C8-B93B-C1C2-5497D3B676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4346" b="6835"/>
          <a:stretch>
            <a:fillRect/>
          </a:stretch>
        </p:blipFill>
        <p:spPr>
          <a:xfrm>
            <a:off x="-150310" y="1307939"/>
            <a:ext cx="12192000" cy="54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6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BBA2-EB83-9725-E38E-437310DF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Server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DD02F4-952D-F9B3-AD85-8F2A4C00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8082"/>
            <a:ext cx="6551255" cy="3768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2A0C3B-98AB-57C6-F62E-CC59146DE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162" y="1500885"/>
            <a:ext cx="7687456" cy="507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09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A0F8-760E-B656-0BAA-71FB9B48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bg1"/>
                </a:solidFill>
              </a:rPr>
              <a:t>Web klijent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F1815-3FD6-95D8-D8D7-79D2F0A18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>
                <a:solidFill>
                  <a:schemeClr val="bg1"/>
                </a:solidFill>
              </a:rPr>
              <a:t>Rewinding</a:t>
            </a:r>
            <a:r>
              <a:rPr lang="hr-HR" dirty="0">
                <a:solidFill>
                  <a:schemeClr val="bg1"/>
                </a:solidFill>
              </a:rPr>
              <a:t> past </a:t>
            </a:r>
            <a:r>
              <a:rPr lang="hr-HR" dirty="0" err="1">
                <a:solidFill>
                  <a:schemeClr val="bg1"/>
                </a:solidFill>
              </a:rPr>
              <a:t>games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Manual </a:t>
            </a:r>
            <a:r>
              <a:rPr lang="hr-HR" dirty="0" err="1">
                <a:solidFill>
                  <a:schemeClr val="bg1"/>
                </a:solidFill>
              </a:rPr>
              <a:t>play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 err="1">
                <a:solidFill>
                  <a:schemeClr val="bg1"/>
                </a:solidFill>
              </a:rPr>
              <a:t>Oversight</a:t>
            </a:r>
            <a:r>
              <a:rPr lang="hr-HR" dirty="0">
                <a:solidFill>
                  <a:schemeClr val="bg1"/>
                </a:solidFill>
              </a:rPr>
              <a:t> mode</a:t>
            </a:r>
          </a:p>
          <a:p>
            <a:r>
              <a:rPr lang="hr-HR" dirty="0" err="1">
                <a:solidFill>
                  <a:schemeClr val="bg1"/>
                </a:solidFill>
              </a:rPr>
              <a:t>Special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views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FF727C-773E-7346-116E-1585537FEA38}"/>
              </a:ext>
            </a:extLst>
          </p:cNvPr>
          <p:cNvSpPr txBox="1">
            <a:spLocks/>
          </p:cNvSpPr>
          <p:nvPr/>
        </p:nvSpPr>
        <p:spPr>
          <a:xfrm>
            <a:off x="1048473" y="45686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HR" dirty="0">
                <a:solidFill>
                  <a:schemeClr val="bg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8011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1E6D-DD91-96F9-1F5E-407F9885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417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Questions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?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also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read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docs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401563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317</Words>
  <Application>Microsoft Office PowerPoint</Application>
  <PresentationFormat>Widescreen</PresentationFormat>
  <Paragraphs>98</Paragraphs>
  <Slides>16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Consolas</vt:lpstr>
      <vt:lpstr>Office Theme</vt:lpstr>
      <vt:lpstr>AIBG X - Topic</vt:lpstr>
      <vt:lpstr>Inspiracija</vt:lpstr>
      <vt:lpstr>PowerPoint Presentation</vt:lpstr>
      <vt:lpstr>Civilization clash</vt:lpstr>
      <vt:lpstr>PowerPoint Presentation</vt:lpstr>
      <vt:lpstr>Tile types</vt:lpstr>
      <vt:lpstr>Map generation</vt:lpstr>
      <vt:lpstr>Special tiles</vt:lpstr>
      <vt:lpstr>Actions</vt:lpstr>
      <vt:lpstr>Units</vt:lpstr>
      <vt:lpstr>Showcase: Combat</vt:lpstr>
      <vt:lpstr>Geometric upkeep</vt:lpstr>
      <vt:lpstr>Fog of war</vt:lpstr>
      <vt:lpstr>Server architecture</vt:lpstr>
      <vt:lpstr>Web klijent</vt:lpstr>
      <vt:lpstr>Questions?  (also, read the docs!)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Vrbovčan</dc:creator>
  <cp:lastModifiedBy>Martin Vrbovčan</cp:lastModifiedBy>
  <cp:revision>9</cp:revision>
  <dcterms:created xsi:type="dcterms:W3CDTF">2026-03-21T10:52:41Z</dcterms:created>
  <dcterms:modified xsi:type="dcterms:W3CDTF">2026-03-21T14:38:54Z</dcterms:modified>
</cp:coreProperties>
</file>